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641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2817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T I V I T 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00A79D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50608" y="18288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03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ACCURACY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10287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Making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Pattern Recognition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 Care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25813" y="2676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Treatment, Payment &amp; Operations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3207209"/>
            <a:ext cx="3657600" cy="0"/>
          </a:xfrm>
          <a:prstGeom prst="line">
            <a:avLst/>
          </a:prstGeom>
          <a:noFill/>
          <a:ln w="12700">
            <a:solidFill>
              <a:srgbClr val="D5B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</a:t>
            </a:r>
            <a:endParaRPr lang="en-US" sz="10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A2797E5-9FD9-708B-118C-09488CC9A40F}"/>
              </a:ext>
            </a:extLst>
          </p:cNvPr>
          <p:cNvSpPr/>
          <p:nvPr/>
        </p:nvSpPr>
        <p:spPr>
          <a:xfrm>
            <a:off x="457200" y="329021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Deepeka Gurunathan  |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T I V I T 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0A79D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Improper Payments — A $50B+ Crisis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0EAF4"/>
          </a:solidFill>
          <a:ln w="12700">
            <a:solidFill>
              <a:srgbClr val="D5BCE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$31.70B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FFS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Payments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077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50876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0EAF4"/>
          </a:solidFill>
          <a:ln w="12700">
            <a:solidFill>
              <a:srgbClr val="D5BCE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$23.67B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Payments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9077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— up from $19.07B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0EAF4"/>
          </a:solidFill>
          <a:ln w="12700">
            <a:solidFill>
              <a:srgbClr val="D5BCE8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 Improper Payments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Documentation Gaps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9077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fraud — missing paperwork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7F6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73075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Most errors stem from documentation gaps, not intentional fraud — making AI-driven clinical text analysis the highest-leverage intervention.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CMS FY2024 &amp; FY2025 Improper Payments Fact Sheets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T I V I T 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0A79D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Rules to Reasoning — Three Phases of Clinical AI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D5BCE8"/>
          </a:solidFill>
          <a:ln w="12700">
            <a:solidFill>
              <a:srgbClr val="D5BCE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1828800" cy="0"/>
          </a:xfrm>
          <a:prstGeom prst="line">
            <a:avLst/>
          </a:prstGeom>
          <a:noFill/>
          <a:ln w="635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exclusion lists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fraud patterns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71800" y="2578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B8E8E4"/>
          </a:solidFill>
          <a:ln w="12700">
            <a:solidFill>
              <a:srgbClr val="B8E8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627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9019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66160" y="2377440"/>
            <a:ext cx="1828800" cy="0"/>
          </a:xfrm>
          <a:prstGeom prst="line">
            <a:avLst/>
          </a:prstGeom>
          <a:noFill/>
          <a:ln w="635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24688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claims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pattern scoring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2578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1627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19019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GenAI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2377440"/>
            <a:ext cx="182880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24688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clinical notes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policy via RAG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Reasoned recommendations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0EAF4"/>
          </a:solidFill>
          <a:ln w="12700">
            <a:solidFill>
              <a:srgbClr val="D5B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17880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is where Cotiviti's next competitive advantage lies — and where this POC operates.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T I V I T 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0A79D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Clinical Claim Decision Support Agent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5176" y="1460446"/>
            <a:ext cx="1645920" cy="1694234"/>
          </a:xfrm>
          <a:prstGeom prst="roundRect">
            <a:avLst>
              <a:gd name="adj" fmla="val 5882"/>
            </a:avLst>
          </a:prstGeom>
          <a:solidFill>
            <a:srgbClr val="F5F5F7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2880" y="1572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82880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 · CPT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claims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21031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31136" y="141732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FF3CD"/>
          </a:solidFill>
          <a:ln w="12700">
            <a:solidFill>
              <a:srgbClr val="E6A817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1481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4A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2103120"/>
            <a:ext cx="1554480" cy="0"/>
          </a:xfrm>
          <a:prstGeom prst="line">
            <a:avLst/>
          </a:prstGeom>
          <a:noFill/>
          <a:ln w="635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77440" y="21488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ICD/CPT mismatch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flag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Overutilization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46804" y="2093911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141732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E8F7F6"/>
          </a:solidFill>
          <a:ln w="12700">
            <a:solidFill>
              <a:srgbClr val="00A79D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0560" y="1481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Notes Extraction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103120"/>
            <a:ext cx="1554480" cy="0"/>
          </a:xfrm>
          <a:prstGeom prst="line">
            <a:avLst/>
          </a:prstGeom>
          <a:noFill/>
          <a:ln w="635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80560" y="21488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reads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notes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contradictions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73368" y="208483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7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1417320"/>
            <a:ext cx="1920240" cy="1737360"/>
          </a:xfrm>
          <a:prstGeom prst="roundRect">
            <a:avLst>
              <a:gd name="adj" fmla="val 5263"/>
            </a:avLst>
          </a:prstGeom>
          <a:solidFill>
            <a:srgbClr val="F0EAF4"/>
          </a:solidFill>
          <a:ln w="12700">
            <a:solidFill>
              <a:srgbClr val="6B2D8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83680" y="1481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Chain Reasoning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2103120"/>
            <a:ext cx="1554480" cy="0"/>
          </a:xfrm>
          <a:prstGeom prst="line">
            <a:avLst/>
          </a:prstGeom>
          <a:noFill/>
          <a:ln w="6350">
            <a:solidFill>
              <a:srgbClr val="6B2D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83680" y="21488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retrieval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66760" y="208483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29184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F0EAF4"/>
          </a:solidFill>
          <a:ln w="12700">
            <a:solidFill>
              <a:srgbClr val="D5B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Risk level (Routine / Needs Review / High Risk)  +  Policy context  +  Agent recommendation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858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Streamlit  ·  OpenAI GPT-4o-mini  ·  text-embedding-3-small  ·  NumPy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24528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8F7F6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42793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agentic chain: Layer 2 extracts clinical signals from doctor notes → Layer 3 incorporates those signals alongside structured flags and retrieved policy to generate a final recommendation.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T I V I T 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0A79D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for Cotiviti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8412480" cy="932688"/>
          </a:xfrm>
          <a:prstGeom prst="roundRect">
            <a:avLst>
              <a:gd name="adj" fmla="val 9804"/>
            </a:avLst>
          </a:prstGeom>
          <a:solidFill>
            <a:srgbClr val="F0EAF4"/>
          </a:solidFill>
          <a:ln w="12700">
            <a:solidFill>
              <a:srgbClr val="6B2D8B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 LLM Documentation Screening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65376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generative AI module that reads physician notes at prepay review — extracting signals that confirm or contradict the billed diagnosis, extending existing ML with a hybrid detection architecture.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8412480" cy="932688"/>
          </a:xfrm>
          <a:prstGeom prst="roundRect">
            <a:avLst>
              <a:gd name="adj" fmla="val 9804"/>
            </a:avLst>
          </a:prstGeom>
          <a:solidFill>
            <a:srgbClr val="E8F7F6"/>
          </a:solidFill>
          <a:ln w="12700">
            <a:solidFill>
              <a:srgbClr val="00A79D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Policy Retrieval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916936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retrieval-augmented generation pipeline over Cotiviti's internal policy knowledge base — surfacing the precise billing policy for any claim in seconds, standardizing rationale and reducing onboarding time.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84448"/>
            <a:ext cx="8412480" cy="932688"/>
          </a:xfrm>
          <a:prstGeom prst="roundRect">
            <a:avLst>
              <a:gd name="adj" fmla="val 9804"/>
            </a:avLst>
          </a:prstGeom>
          <a:solidFill>
            <a:srgbClr val="FFF8E8"/>
          </a:solidFill>
          <a:ln w="12700">
            <a:solidFill>
              <a:srgbClr val="E6A817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630168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3657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Audit Trail Standard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968496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structured evidence record per agent determination — capturing flags, retrieved policies, notes summary, and reasoning chain — enabling providers to contest decisions and clients to demonstrate regulatory compliance.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81728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capabilities extend Cotiviti's 360 Pattern Review into documentation-aware, explainable payment integrity.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456</Words>
  <Application>Microsoft Office PowerPoint</Application>
  <PresentationFormat>On-screen Show (16:9)</PresentationFormat>
  <Paragraphs>89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Decision Making and Pattern Recognition in Health Care</dc:title>
  <dc:subject>PptxGenJS Presentation</dc:subject>
  <dc:creator>Deepeka Gurunathan</dc:creator>
  <cp:lastModifiedBy>Gurunathan, Deepeka</cp:lastModifiedBy>
  <cp:revision>3</cp:revision>
  <dcterms:created xsi:type="dcterms:W3CDTF">2026-06-25T21:58:22Z</dcterms:created>
  <dcterms:modified xsi:type="dcterms:W3CDTF">2026-06-25T22:08:34Z</dcterms:modified>
</cp:coreProperties>
</file>